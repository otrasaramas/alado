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C789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TO (reemplazar)" descr="capa-foto-ejemplo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462" y="4333875"/>
            <a:ext cx="6696075" cy="7048500"/>
          </a:xfrm>
          <a:prstGeom prst="rect">
            <a:avLst/>
          </a:prstGeom>
        </p:spPr>
      </p:pic>
      <p:pic>
        <p:nvPicPr>
          <p:cNvPr id="3" name="Fondo con ventana" descr="capa-fondo-ventana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4" name="Datos (etiquetas)"/>
          <p:cNvSpPr txBox="1"/>
          <p:nvPr/>
        </p:nvSpPr>
        <p:spPr>
          <a:xfrm>
            <a:off x="609600" y="2238375"/>
            <a:ext cx="1292423" cy="1554361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060"/>
              </a:lnSpc>
            </a:pPr>
            <a:r>
              <a:rPr sz="3000" i="0" spc="-90">
                <a:solidFill>
                  <a:srgbClr val="ECEFF1"/>
                </a:solidFill>
                <a:latin typeface="Archivo"/>
              </a:rPr>
              <a:t>Fecha</a:t>
            </a:r>
          </a:p>
          <a:p>
            <a:pPr algn="l">
              <a:lnSpc>
                <a:spcPts val="3060"/>
              </a:lnSpc>
            </a:pPr>
            <a:r>
              <a:rPr sz="3000" i="0" spc="-90">
                <a:solidFill>
                  <a:srgbClr val="ECEFF1"/>
                </a:solidFill>
                <a:latin typeface="Archivo"/>
              </a:rPr>
              <a:t>Hora</a:t>
            </a:r>
          </a:p>
          <a:p>
            <a:pPr algn="l">
              <a:lnSpc>
                <a:spcPts val="3060"/>
              </a:lnSpc>
            </a:pPr>
            <a:r>
              <a:rPr sz="3000" i="0" spc="-90">
                <a:solidFill>
                  <a:srgbClr val="ECEFF1"/>
                </a:solidFill>
                <a:latin typeface="Archivo"/>
              </a:rPr>
              <a:t>Lugar</a:t>
            </a:r>
          </a:p>
          <a:p>
            <a:pPr algn="l">
              <a:lnSpc>
                <a:spcPts val="3060"/>
              </a:lnSpc>
            </a:pPr>
            <a:r>
              <a:rPr sz="3000" i="0" spc="-90">
                <a:solidFill>
                  <a:srgbClr val="ECEFF1"/>
                </a:solidFill>
                <a:latin typeface="Archivo"/>
              </a:rPr>
              <a:t>Valor</a:t>
            </a:r>
          </a:p>
        </p:txBody>
      </p:sp>
      <p:sp>
        <p:nvSpPr>
          <p:cNvPr id="5" name="Datos (valores)"/>
          <p:cNvSpPr txBox="1"/>
          <p:nvPr/>
        </p:nvSpPr>
        <p:spPr>
          <a:xfrm>
            <a:off x="5874544" y="2238375"/>
            <a:ext cx="3802856" cy="1554361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>
              <a:lnSpc>
                <a:spcPts val="3060"/>
              </a:lnSpc>
            </a:pPr>
            <a:r>
              <a:rPr sz="3000" i="0" spc="-90">
                <a:solidFill>
                  <a:srgbClr val="ECEFF1"/>
                </a:solidFill>
                <a:latin typeface="Archivo"/>
              </a:rPr>
              <a:t>Sábado 17 de octubre</a:t>
            </a:r>
          </a:p>
          <a:p>
            <a:pPr algn="r">
              <a:lnSpc>
                <a:spcPts val="3060"/>
              </a:lnSpc>
            </a:pPr>
            <a:r>
              <a:rPr sz="3000" i="0" spc="-90">
                <a:solidFill>
                  <a:srgbClr val="ECEFF1"/>
                </a:solidFill>
                <a:latin typeface="Archivo"/>
              </a:rPr>
              <a:t>1 – 4 p. m.</a:t>
            </a:r>
          </a:p>
          <a:p>
            <a:pPr algn="r">
              <a:lnSpc>
                <a:spcPts val="3060"/>
              </a:lnSpc>
            </a:pPr>
            <a:r>
              <a:rPr sz="3000" i="0" spc="-90">
                <a:solidFill>
                  <a:srgbClr val="ECEFF1"/>
                </a:solidFill>
                <a:latin typeface="Archivo"/>
              </a:rPr>
              <a:t>El Retiro</a:t>
            </a:r>
          </a:p>
          <a:p>
            <a:pPr algn="r">
              <a:lnSpc>
                <a:spcPts val="3060"/>
              </a:lnSpc>
            </a:pPr>
            <a:r>
              <a:rPr sz="3000" i="0" spc="-90">
                <a:solidFill>
                  <a:srgbClr val="ECEFF1"/>
                </a:solidFill>
                <a:latin typeface="Archivo"/>
              </a:rPr>
              <a:t>$230.000</a:t>
            </a:r>
          </a:p>
        </p:txBody>
      </p:sp>
      <p:sp>
        <p:nvSpPr>
          <p:cNvPr id="6" name="Título 1"/>
          <p:cNvSpPr txBox="1"/>
          <p:nvPr/>
        </p:nvSpPr>
        <p:spPr>
          <a:xfrm>
            <a:off x="2181225" y="11791950"/>
            <a:ext cx="5218807" cy="1123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8850"/>
              </a:lnSpc>
            </a:pPr>
            <a:r>
              <a:rPr sz="8850" i="0" spc="225">
                <a:solidFill>
                  <a:srgbClr val="CFD6DD"/>
                </a:solidFill>
                <a:latin typeface="Playfair Display"/>
              </a:rPr>
              <a:t>PINTURA</a:t>
            </a:r>
          </a:p>
        </p:txBody>
      </p:sp>
      <p:sp>
        <p:nvSpPr>
          <p:cNvPr id="7" name="Tagline"/>
          <p:cNvSpPr txBox="1"/>
          <p:nvPr/>
        </p:nvSpPr>
        <p:spPr>
          <a:xfrm>
            <a:off x="7286625" y="12458700"/>
            <a:ext cx="2243286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1950"/>
              </a:lnSpc>
            </a:pPr>
            <a:r>
              <a:rPr sz="1950" i="1">
                <a:solidFill>
                  <a:srgbClr val="CFD6DD"/>
                </a:solidFill>
                <a:latin typeface="Playfair Display"/>
              </a:rPr>
              <a:t>taller de una tarde</a:t>
            </a:r>
          </a:p>
        </p:txBody>
      </p:sp>
      <p:sp>
        <p:nvSpPr>
          <p:cNvPr id="8" name="Título 2"/>
          <p:cNvSpPr txBox="1"/>
          <p:nvPr/>
        </p:nvSpPr>
        <p:spPr>
          <a:xfrm>
            <a:off x="2181225" y="12915900"/>
            <a:ext cx="6218486" cy="1123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8850"/>
              </a:lnSpc>
            </a:pPr>
            <a:r>
              <a:rPr sz="8850" i="0" spc="225">
                <a:solidFill>
                  <a:srgbClr val="CFD6DD"/>
                </a:solidFill>
                <a:latin typeface="Playfair Display"/>
              </a:rPr>
              <a:t>CERÁMICA</a:t>
            </a:r>
          </a:p>
        </p:txBody>
      </p:sp>
      <p:sp>
        <p:nvSpPr>
          <p:cNvPr id="9" name="Abajo izquierda"/>
          <p:cNvSpPr txBox="1"/>
          <p:nvPr/>
        </p:nvSpPr>
        <p:spPr>
          <a:xfrm>
            <a:off x="609600" y="14820900"/>
            <a:ext cx="3097560" cy="933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675"/>
              </a:lnSpc>
            </a:pPr>
            <a:r>
              <a:rPr sz="3750" i="0" spc="-150">
                <a:solidFill>
                  <a:srgbClr val="ECEFF1"/>
                </a:solidFill>
                <a:latin typeface="Archivo"/>
              </a:rPr>
              <a:t>TALLER</a:t>
            </a:r>
          </a:p>
          <a:p>
            <a:pPr algn="l">
              <a:lnSpc>
                <a:spcPts val="3675"/>
              </a:lnSpc>
            </a:pPr>
            <a:r>
              <a:rPr sz="3750" i="0" spc="-150">
                <a:solidFill>
                  <a:srgbClr val="ECEFF1"/>
                </a:solidFill>
                <a:latin typeface="Archivo"/>
              </a:rPr>
              <a:t>ALADO &amp; CO.</a:t>
            </a:r>
          </a:p>
        </p:txBody>
      </p:sp>
      <p:sp>
        <p:nvSpPr>
          <p:cNvPr id="10" name="Abajo derecha"/>
          <p:cNvSpPr txBox="1"/>
          <p:nvPr/>
        </p:nvSpPr>
        <p:spPr>
          <a:xfrm>
            <a:off x="6950869" y="14820900"/>
            <a:ext cx="2726531" cy="933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>
              <a:lnSpc>
                <a:spcPts val="3675"/>
              </a:lnSpc>
            </a:pPr>
            <a:r>
              <a:rPr sz="3750" i="0" spc="-150">
                <a:solidFill>
                  <a:srgbClr val="ECEFF1"/>
                </a:solidFill>
                <a:latin typeface="Archivo"/>
              </a:rPr>
              <a:t>RESERVAS</a:t>
            </a:r>
          </a:p>
          <a:p>
            <a:pPr algn="r">
              <a:lnSpc>
                <a:spcPts val="3675"/>
              </a:lnSpc>
            </a:pPr>
            <a:r>
              <a:rPr sz="3750" i="0" spc="-150">
                <a:solidFill>
                  <a:srgbClr val="ECEFF1"/>
                </a:solidFill>
                <a:latin typeface="Archivo"/>
              </a:rPr>
              <a:t>ABIERTAS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